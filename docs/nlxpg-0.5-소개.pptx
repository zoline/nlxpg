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822960" cy="57150"/>
          </a:xfrm>
          <a:prstGeom prst="rect">
            <a:avLst/>
          </a:prstGeom>
          <a:solidFill>
            <a:srgbClr val="6CA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nlxpg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9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맑은 고딕"/>
              </a:rPr>
              <a:t>업무 문서에서 PostgreSQL 설계 초안까지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B8C2D0"/>
                </a:solidFill>
                <a:latin typeface="맑은 고딕"/>
              </a:rPr>
              <a:t>테이블 정의서 · ERD · DDL, 공공데이터 공통표준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9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B8C2D0"/>
                </a:solidFill>
                <a:latin typeface="맑은 고딕"/>
              </a:rPr>
              <a:t>2026-10-01  ·  Youngki 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왜 만드나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DB 설계 초안은 지금 사람이 처음부터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1536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305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문서를 다 읽어야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05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규정·매뉴얼·요구사항에서 관리할 대상(엔터티)과 항목(속성)을 사람이 찾아낸다.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320" y="1645920"/>
            <a:ext cx="351536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920" y="1874520"/>
            <a:ext cx="305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같은 개념, 다른 이름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920" y="2331720"/>
            <a:ext cx="305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문서마다 고객 / 거래처 / Customer처럼 다르게 부른다. 합칠지 판단하는 데 시간이 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45920"/>
            <a:ext cx="3515360" cy="1920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6600" y="1874520"/>
            <a:ext cx="305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표준을 찾아 맞춘다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600" y="2331720"/>
            <a:ext cx="305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공통표준 용어·단어·도메인을 하나씩 찾아 물리명과 타입을 정한다.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94720" cy="100584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0546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5FBF"/>
                </a:solidFill>
                <a:latin typeface="맑은 고딕"/>
              </a:rPr>
              <a:t>nlxpg는 이 초안 작성을 자동화한다. 설계자는 처음부터 만드는 대신 초안을 검토하고 고친다.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무엇을 해 주나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문서를 올리면 설계 초안 네 가지가 나온다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017520" cy="3383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5FBF"/>
                </a:solidFill>
                <a:latin typeface="맑은 고딕"/>
              </a:rPr>
              <a:t>입력: 업무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560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Markdown · 텍스트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선택 설치 시 PDF · DOCX · PPTX · HTML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문서 여러 개를 한 번에 올리면 하나의 스키마로 합친다.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40" y="3108960"/>
            <a:ext cx="640080" cy="548640"/>
          </a:xfrm>
          <a:prstGeom prst="rightArrow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7071360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</a:rPr>
              <a:t>테이블 정의서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45920"/>
            <a:ext cx="441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한글 논리명, 영문 물리명, 도메인, 타입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578608"/>
            <a:ext cx="7071360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57860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</a:rPr>
              <a:t>ERD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578608"/>
            <a:ext cx="441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Mermaid 다이어그램, SVG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511296"/>
            <a:ext cx="7071360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511296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</a:rPr>
              <a:t>PostgreSQL DDL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511296"/>
            <a:ext cx="441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샌드박스에서 실제로 실행해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443984"/>
            <a:ext cx="7071360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443984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</a:rPr>
              <a:t>검증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43984"/>
            <a:ext cx="441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공통표준 준수율, 정규형 점검, 린트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109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모든 테이블·컬럼에 근거(어느 문서의 어느 절)가 붙고, 화면에서 누르면 원문으로 이동한다.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어떻게 동작하나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LLM은 추출만, 설계는 규칙으로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4</a:t>
            </a:r>
          </a:p>
        </p:txBody>
      </p:sp>
      <p:sp>
        <p:nvSpPr>
          <p:cNvPr id="6" name="Pentagon 5"/>
          <p:cNvSpPr/>
          <p:nvPr/>
        </p:nvSpPr>
        <p:spPr>
          <a:xfrm>
            <a:off x="548640" y="1645920"/>
            <a:ext cx="1940560" cy="914400"/>
          </a:xfrm>
          <a:prstGeom prst="homePlate">
            <a:avLst/>
          </a:prstGeom>
          <a:solidFill>
            <a:srgbClr val="E6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419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섹션 분할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647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문서를 절 단위로</a:t>
            </a:r>
          </a:p>
        </p:txBody>
      </p:sp>
      <p:sp>
        <p:nvSpPr>
          <p:cNvPr id="9" name="Chevron 8"/>
          <p:cNvSpPr/>
          <p:nvPr/>
        </p:nvSpPr>
        <p:spPr>
          <a:xfrm>
            <a:off x="2379472" y="1645920"/>
            <a:ext cx="1940560" cy="914400"/>
          </a:xfrm>
          <a:prstGeom prst="chevron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9512" y="1645920"/>
            <a:ext cx="1419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LLM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6632" y="2697480"/>
            <a:ext cx="1647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엔터티·속성·관계</a:t>
            </a:r>
          </a:p>
        </p:txBody>
      </p:sp>
      <p:sp>
        <p:nvSpPr>
          <p:cNvPr id="12" name="Chevron 11"/>
          <p:cNvSpPr/>
          <p:nvPr/>
        </p:nvSpPr>
        <p:spPr>
          <a:xfrm>
            <a:off x="4210304" y="1645920"/>
            <a:ext cx="1940560" cy="914400"/>
          </a:xfrm>
          <a:prstGeom prst="chevron">
            <a:avLst/>
          </a:prstGeom>
          <a:solidFill>
            <a:srgbClr val="E6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344" y="1645920"/>
            <a:ext cx="1419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정합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7464" y="2697480"/>
            <a:ext cx="1647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문서 간 같은 개념</a:t>
            </a:r>
          </a:p>
        </p:txBody>
      </p:sp>
      <p:sp>
        <p:nvSpPr>
          <p:cNvPr id="15" name="Chevron 14"/>
          <p:cNvSpPr/>
          <p:nvPr/>
        </p:nvSpPr>
        <p:spPr>
          <a:xfrm>
            <a:off x="6041136" y="1645920"/>
            <a:ext cx="1940560" cy="914400"/>
          </a:xfrm>
          <a:prstGeom prst="chevron">
            <a:avLst/>
          </a:prstGeom>
          <a:solidFill>
            <a:srgbClr val="E6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1176" y="1645920"/>
            <a:ext cx="1419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모델링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296" y="2697480"/>
            <a:ext cx="1647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PK·FK·N:M·타입</a:t>
            </a:r>
          </a:p>
        </p:txBody>
      </p:sp>
      <p:sp>
        <p:nvSpPr>
          <p:cNvPr id="18" name="Chevron 17"/>
          <p:cNvSpPr/>
          <p:nvPr/>
        </p:nvSpPr>
        <p:spPr>
          <a:xfrm>
            <a:off x="7871968" y="1645920"/>
            <a:ext cx="1940560" cy="914400"/>
          </a:xfrm>
          <a:prstGeom prst="chevron">
            <a:avLst/>
          </a:prstGeom>
          <a:solidFill>
            <a:srgbClr val="E6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2008" y="1645920"/>
            <a:ext cx="1419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표준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9128" y="2697480"/>
            <a:ext cx="1647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물리명·도메인</a:t>
            </a:r>
          </a:p>
        </p:txBody>
      </p:sp>
      <p:sp>
        <p:nvSpPr>
          <p:cNvPr id="21" name="Chevron 20"/>
          <p:cNvSpPr/>
          <p:nvPr/>
        </p:nvSpPr>
        <p:spPr>
          <a:xfrm>
            <a:off x="9702800" y="1645920"/>
            <a:ext cx="1940560" cy="914400"/>
          </a:xfrm>
          <a:prstGeom prst="chevron">
            <a:avLst/>
          </a:prstGeom>
          <a:solidFill>
            <a:srgbClr val="E6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2840" y="1645920"/>
            <a:ext cx="1419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산출·검증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9960" y="2697480"/>
            <a:ext cx="1647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DDL·ERD·샌드박스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5410200" cy="2011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8328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LLM은 문서에서 개념을 찾는 일만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4953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키·관계 설계, 표준 적용, DDL 생성은 규칙으로 한다. 같은 추출 결과에서는 항상 같은 스키마가 나온다.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60" y="3154680"/>
            <a:ext cx="5410200" cy="20116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1760" y="338328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출력 형식을 강제한다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1760" y="3840480"/>
            <a:ext cx="4953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정해진 JSON 구조로만 답하게 하고(vLLM guided decoding), 그래도 틀리면 오류를 알려 주고 한 번 더 요청한다.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공통표준 적용 (ADR-0005)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이름과 타입은 공공데이터 공통표준을 따른다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15360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01952"/>
            <a:ext cx="250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공통표준 용어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05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용어가 있으면 그대로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05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A7F37"/>
                </a:solidFill>
                <a:latin typeface="맑은 고딕"/>
              </a:rPr>
              <a:t>거래처명 → cnpt_nm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320" y="1645920"/>
            <a:ext cx="3515360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920" y="1874520"/>
            <a:ext cx="457200" cy="457200"/>
          </a:xfrm>
          <a:prstGeom prst="ellipse">
            <a:avLst/>
          </a:prstGeom>
          <a:solidFill>
            <a:srgbClr val="B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6920" y="1874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1280" y="1901952"/>
            <a:ext cx="250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표준 단어 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920" y="2560320"/>
            <a:ext cx="305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용어가 없으면 단어를 이어서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920" y="3200400"/>
            <a:ext cx="305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B26B00"/>
                </a:solidFill>
                <a:latin typeface="맑은 고딕"/>
              </a:rPr>
              <a:t>주문총금액 → ordr_gramt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0" y="1645920"/>
            <a:ext cx="3515360" cy="2377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600" y="18745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600" y="1874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0960" y="1901952"/>
            <a:ext cx="2509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비표준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2560320"/>
            <a:ext cx="3058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573"/>
                </a:solidFill>
                <a:latin typeface="맑은 고딕"/>
              </a:rPr>
              <a:t>그래도 안 되면 표시하고 검토 대상으로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200400"/>
            <a:ext cx="305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</a:rPr>
              <a:t>정가 → list_price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11094720" cy="100584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43400"/>
            <a:ext cx="10546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5FBF"/>
                </a:solidFill>
                <a:latin typeface="맑은 고딕"/>
              </a:rPr>
              <a:t>PostgreSQL에 맞춘 두 가지: 날짜는 DATE, 물리명은 소문자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행정안전부 공통표준 2025-11-01 판 (용어·단어·도메인). 기존 DB의 표준 준수율 검사도 같은 기준으로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실제 실행 결과 (Qwen3.8, 2026-10-01)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예시: 「거래처 관리 규정」 한 쪽 → 테이블 6개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206240" cy="3749039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749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5FBF"/>
                </a:solidFill>
                <a:latin typeface="맑은 고딕"/>
              </a:rPr>
              <a:t>입력 (발췌)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제3조 (거래처) 거래처는 거래처번호로 식별하며, 거래처명, 사업자등록번호, 대표 전화번호를 반드시 등록한다.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제5조 (주문) 거래처는 여러 건의 주문을 할 수 있다. 주문은 주문번호, 주문일자, 주문 총액을 가진다. 한 주문에는 여러 주문 품목이 포함되며…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제6조 (상품) 하나의 상품은 여러 카테고리에 속할 수 있고, 카테고리에도 여러 상품이 속한다.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45920"/>
            <a:ext cx="2098040" cy="10515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755648"/>
            <a:ext cx="2098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5FBF"/>
                </a:solidFill>
                <a:latin typeface="맑은 고딕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304288"/>
            <a:ext cx="2098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테이블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0120" y="1645920"/>
            <a:ext cx="2098040" cy="10515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0120" y="1755648"/>
            <a:ext cx="2098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5FBF"/>
                </a:solidFill>
                <a:latin typeface="맑은 고딕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120" y="2304288"/>
            <a:ext cx="2098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5320" y="1645920"/>
            <a:ext cx="2098040" cy="10515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5320" y="1755648"/>
            <a:ext cx="2098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5FBF"/>
                </a:solidFill>
                <a:latin typeface="맑은 고딕"/>
              </a:rPr>
              <a:t>통과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5320" y="2304288"/>
            <a:ext cx="2098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샌드박스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74920" y="2880360"/>
          <a:ext cx="65684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900"/>
                <a:gridCol w="1576425"/>
                <a:gridCol w="1707794"/>
                <a:gridCol w="1182319"/>
              </a:tblGrid>
              <a:tr h="4191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논리명</a:t>
                      </a:r>
                    </a:p>
                  </a:txBody>
                  <a:tcPr marL="80000" marR="80000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물리명</a:t>
                      </a:r>
                    </a:p>
                  </a:txBody>
                  <a:tcPr marL="80000" marR="80000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80000" marR="80000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표준</a:t>
                      </a:r>
                    </a:p>
                  </a:txBody>
                  <a:tcPr marL="80000" marR="80000">
                    <a:solidFill>
                      <a:srgbClr val="1F293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거래처명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cnpt_nm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varchar(100)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37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사업자등록번호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brno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char(10)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37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주문일자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ordr_ymd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37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주문총금액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ordr_gramt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numeric(15)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26B00"/>
                          </a:solidFill>
                          <a:latin typeface="맑은 고딕"/>
                        </a:rPr>
                        <a:t>단어 조합</a:t>
                      </a:r>
                    </a:p>
                  </a:txBody>
                  <a:tcPr marL="80000" marR="80000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상품명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gds_nm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varchar(200)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7F37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marL="80000" marR="8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5778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B6573"/>
                </a:solidFill>
                <a:latin typeface="맑은 고딕"/>
              </a:rPr>
              <a:t>추출된 컬럼 13개 중 공통표준 용어 8, 단어 조합 4, 비표준 1. 상품–범주 N:M 관계는 연결 테이블(gds_ctgry)로 자동 분해.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웹 화면 하나에서 설계부터 검토까지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새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45920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문서를 올리고 모델을 골라 실행. 진행 상황 실시간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9424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실행 이력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49424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요약 · ERD · 정의서 · 관계 · 검증 · DDL · 원문 · 사람 검토(6개 항목)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52928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표준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52928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기존 DDL이나 운영 DB의 공통표준 준수율, 매핑정보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56432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정규형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456432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정규형 위반, 관계 누락, 파생 속성 의심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59936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6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공통표준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59936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이름 → 표준 물리명·도메인, 도메인·용어·단어 검색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663440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사용자, 모델 설정(LLM 프로필), 시스템 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66944"/>
            <a:ext cx="11094720" cy="512064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6694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5FBF"/>
                </a:solidFill>
                <a:latin typeface="맑은 고딕"/>
              </a:rPr>
              <a:t>디버그 모드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266944"/>
            <a:ext cx="8442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LLM에 보낸 프롬프트와 받은 응답을 호출마다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사내 문서는 밖으로 나가지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10200" cy="17830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온프렘 LLM이 기본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5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기본 모델은 사내 서버의 오픈 모델(Qwen3, vLLM). 외부 API(Claude)는 사내 문서가 아닌 실행에서 직접 고를 때만 쓰고, 서버가 사내 문서에는 거부한다. (ADR-0008)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645920"/>
            <a:ext cx="5410200" cy="17830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760" y="187452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자기 실행만 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760" y="2331720"/>
            <a:ext cx="495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계정마다 자기가 만든 실행만 보고, 관리자만 전체를 본다. (ADR-0006)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5410200" cy="17830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비밀값은 암호화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495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LLM 키는 암호화해 DB에 저장하고 화면에 다시 보이지 않는다. 비밀번호는 해시만 저장한다.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60" y="3611880"/>
            <a:ext cx="5410200" cy="17830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760" y="384048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지우면 남지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760" y="4297680"/>
            <a:ext cx="4953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실행을 지우면 원문, 업로드 파일, 디버그 기록이 함께 지워진다.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지금 수준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0.5는 써 보고 의견을 받는 시험판이다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10200" cy="30175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A7F37"/>
                </a:solidFill>
                <a:latin typeface="맑은 고딕"/>
              </a:rPr>
              <a:t>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53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문서 여러 개 → 정합된 스키마 하나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표준 적용, 샌드박스 검증, 정규형 점검, 사람 검토 기록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설치 스크립트 한 번으로 다른 서버에 설치 (시스템 DB, systemd 포함)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로그인·권한, LLM 프로필 관리, 디버그 모드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645920"/>
            <a:ext cx="5410200" cy="30175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760" y="1874520"/>
            <a:ext cx="495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아직 안 되는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760" y="2331720"/>
            <a:ext cx="4953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정량 평가 전: 정답 스키마 대비 점수(F1 등) 없음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HWP/HWPX·스캔본 미지원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다른 이름의 같은 개념은 못 합침 (이름·별칭 일치만)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대리키 이름(테이블_id)이 비표준 → 준수율이 낮게 나옴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B6573"/>
                </a:solidFill>
                <a:latin typeface="맑은 고딕"/>
              </a:rPr>
              <a:t>• 검증 실패 시 자동 수정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5FBF"/>
                </a:solidFill>
                <a:latin typeface="맑은 고딕"/>
              </a:rPr>
              <a:t>다음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맑은 고딕"/>
              </a:rPr>
              <a:t>다음 계획과 부탁드리는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548640" cy="3810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456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5B6573"/>
                </a:solidFill>
                <a:latin typeface="맑은 고딕"/>
              </a:rPr>
              <a:t>nlxpg 0.5  ·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평가 기반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12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정답이 있는 테스트 문서를 만들어 점수를 낸다 (ADR-0003)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4495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의미 기반 정합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4728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이름이 달라도 같은 개념을 합친다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793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사내 문서 파일럿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68172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B6573"/>
                </a:solidFill>
                <a:latin typeface="맑은 고딕"/>
              </a:rPr>
              <a:t>HWP 지원, 사람 검토 루프, pgxnl 연계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645920"/>
            <a:ext cx="4922520" cy="3566160"/>
          </a:xfrm>
          <a:prstGeom prst="roundRect">
            <a:avLst>
              <a:gd name="adj" fmla="val 8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920240"/>
            <a:ext cx="4373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1F5FBF"/>
                </a:solidFill>
                <a:latin typeface="맑은 고딕"/>
              </a:rPr>
              <a:t>부탁드리는 것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• 공개·테스트 문서로 직접 써 보고 결과 검토 점수 남기기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• 파일럿에 쓸 문서 유형과 도메인 추천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• 대리키 명명 방식 결정 (표준 용어로 맞출지)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